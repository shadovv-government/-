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a55446d774e96" /><Relationship Type="http://schemas.openxmlformats.org/officeDocument/2006/relationships/extended-properties" Target="/docProps/app.xml" Id="R8bf8d48c293f43a1" /><Relationship Type="http://schemas.openxmlformats.org/officeDocument/2006/relationships/officeDocument" Target="/ppt/presentation.xml" Id="R981a57a40337412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5c5c479246c4f93"/>
  </p:sldMasterIdLst>
  <p:notesMasterIdLst>
    <p:notesMasterId xmlns:r="http://schemas.openxmlformats.org/officeDocument/2006/relationships" r:id="R88bcf44a7b244bd0"/>
  </p:notesMasterIdLst>
  <p:sldIdLst>
    <p:sldId xmlns:r="http://schemas.openxmlformats.org/officeDocument/2006/relationships" id="256" r:id="R61ff2b88e4244791"/>
    <p:sldId xmlns:r="http://schemas.openxmlformats.org/officeDocument/2006/relationships" id="257" r:id="Ra3188caa20e348d1"/>
    <p:sldId xmlns:r="http://schemas.openxmlformats.org/officeDocument/2006/relationships" id="258" r:id="R2365a89f733b49ec"/>
    <p:sldId xmlns:r="http://schemas.openxmlformats.org/officeDocument/2006/relationships" id="259" r:id="R6e931788c0e848b2"/>
    <p:sldId xmlns:r="http://schemas.openxmlformats.org/officeDocument/2006/relationships" id="260" r:id="Rf18f779e1c554006"/>
    <p:sldId xmlns:r="http://schemas.openxmlformats.org/officeDocument/2006/relationships" id="261" r:id="R58fbfd34861a4679"/>
    <p:sldId xmlns:r="http://schemas.openxmlformats.org/officeDocument/2006/relationships" id="262" r:id="R51d17776c3144d40"/>
    <p:sldId xmlns:r="http://schemas.openxmlformats.org/officeDocument/2006/relationships" id="263" r:id="R681b3d69b4cd4298"/>
    <p:sldId xmlns:r="http://schemas.openxmlformats.org/officeDocument/2006/relationships" id="264" r:id="R0ae5d3cc372144fd"/>
    <p:sldId xmlns:r="http://schemas.openxmlformats.org/officeDocument/2006/relationships" id="265" r:id="Re1b9357be54e4d5e"/>
    <p:sldId xmlns:r="http://schemas.openxmlformats.org/officeDocument/2006/relationships" id="266" r:id="Rcbe32465744843bc"/>
  </p:sldIdLst>
  <p:sldSz cx="12192000" cy="6858000"/>
  <p:notesSz cx="6858000" cy="9144000"/>
  <p:embeddedFontLst>
    <p:embeddedFont>
      <p:font typeface="ALS Gorizont 2.1 Expanded"/>
      <p:regular xmlns:r="http://schemas.openxmlformats.org/officeDocument/2006/relationships" r:id="R3d845b44be034de5"/>
    </p:embeddedFont>
    <p:embeddedFont>
      <p:font typeface="ALS Hauss"/>
      <p:regular xmlns:r="http://schemas.openxmlformats.org/officeDocument/2006/relationships" r:id="R5345087271344db4"/>
    </p:embeddedFont>
    <p:embeddedFont>
      <p:font typeface="Cambria Math"/>
      <p:regular xmlns:r="http://schemas.openxmlformats.org/officeDocument/2006/relationships" r:id="R289d3a0b26e24e5a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fc15be1b6d442d" /><Relationship Type="http://schemas.openxmlformats.org/officeDocument/2006/relationships/slideMaster" Target="/ppt/slideMasters/slideMaster1.xml" Id="R85c5c479246c4f93" /><Relationship Type="http://schemas.openxmlformats.org/officeDocument/2006/relationships/notesMaster" Target="/ppt/notesMasters/notesMaster1.xml" Id="R88bcf44a7b244bd0" /><Relationship Type="http://schemas.openxmlformats.org/officeDocument/2006/relationships/presProps" Target="/ppt/presProps.xml" Id="Ra7cf3bbcb5e54247" /><Relationship Type="http://schemas.openxmlformats.org/officeDocument/2006/relationships/viewProps" Target="/ppt/viewProps.xml" Id="R508de5b43d1f4a97" /><Relationship Type="http://schemas.openxmlformats.org/officeDocument/2006/relationships/tableStyles" Target="/ppt/tableStyles.xml" Id="R002dc76e8e674055" /><Relationship Type="http://schemas.openxmlformats.org/officeDocument/2006/relationships/font" Target="/ppt/fonts/font.dat" Id="R3d845b44be034de5" /><Relationship Type="http://schemas.openxmlformats.org/officeDocument/2006/relationships/font" Target="/ppt/fonts/font2.dat" Id="R5345087271344db4" /><Relationship Type="http://schemas.openxmlformats.org/officeDocument/2006/relationships/font" Target="/ppt/fonts/font3.dat" Id="R289d3a0b26e24e5a" /><Relationship Type="http://schemas.openxmlformats.org/officeDocument/2006/relationships/slide" Target="/ppt/slides/slide1.xml" Id="R61ff2b88e4244791" /><Relationship Type="http://schemas.openxmlformats.org/officeDocument/2006/relationships/slide" Target="/ppt/slides/slide2.xml" Id="Ra3188caa20e348d1" /><Relationship Type="http://schemas.openxmlformats.org/officeDocument/2006/relationships/slide" Target="/ppt/slides/slide3.xml" Id="R2365a89f733b49ec" /><Relationship Type="http://schemas.openxmlformats.org/officeDocument/2006/relationships/slide" Target="/ppt/slides/slide4.xml" Id="R6e931788c0e848b2" /><Relationship Type="http://schemas.openxmlformats.org/officeDocument/2006/relationships/slide" Target="/ppt/slides/slide5.xml" Id="Rf18f779e1c554006" /><Relationship Type="http://schemas.openxmlformats.org/officeDocument/2006/relationships/slide" Target="/ppt/slides/slide6.xml" Id="R58fbfd34861a4679" /><Relationship Type="http://schemas.openxmlformats.org/officeDocument/2006/relationships/slide" Target="/ppt/slides/slide7.xml" Id="R51d17776c3144d40" /><Relationship Type="http://schemas.openxmlformats.org/officeDocument/2006/relationships/slide" Target="/ppt/slides/slide8.xml" Id="R681b3d69b4cd4298" /><Relationship Type="http://schemas.openxmlformats.org/officeDocument/2006/relationships/slide" Target="/ppt/slides/slide9.xml" Id="R0ae5d3cc372144fd" /><Relationship Type="http://schemas.openxmlformats.org/officeDocument/2006/relationships/slide" Target="/ppt/slides/slide10.xml" Id="Re1b9357be54e4d5e" /><Relationship Type="http://schemas.openxmlformats.org/officeDocument/2006/relationships/slide" Target="/ppt/slides/slide11.xml" Id="Rcbe324657448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d536ef1240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a8eb637c7a45a2" /><Relationship Type="http://schemas.openxmlformats.org/officeDocument/2006/relationships/notesMaster" Target="/ppt/notesMasters/notesMaster1.xml" Id="Re523e75fc6e345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23bdbd1ad44d09" /><Relationship Type="http://schemas.openxmlformats.org/officeDocument/2006/relationships/notesMaster" Target="/ppt/notesMasters/notesMaster1.xml" Id="R31cd69c2398240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f824f4f6884362" /><Relationship Type="http://schemas.openxmlformats.org/officeDocument/2006/relationships/notesMaster" Target="/ppt/notesMasters/notesMaster1.xml" Id="Ra53c8f844d4742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a78d7561934ee4" /><Relationship Type="http://schemas.openxmlformats.org/officeDocument/2006/relationships/notesMaster" Target="/ppt/notesMasters/notesMaster1.xml" Id="R93e608908e9d44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7de500c1374960" /><Relationship Type="http://schemas.openxmlformats.org/officeDocument/2006/relationships/notesMaster" Target="/ppt/notesMasters/notesMaster1.xml" Id="R209bf2d264fc4c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a13b87593b4031" /><Relationship Type="http://schemas.openxmlformats.org/officeDocument/2006/relationships/notesMaster" Target="/ppt/notesMasters/notesMaster1.xml" Id="Rd5f471ef985444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2c2f6c630740cc" /><Relationship Type="http://schemas.openxmlformats.org/officeDocument/2006/relationships/notesMaster" Target="/ppt/notesMasters/notesMaster1.xml" Id="R18c5316cff7540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27b22bfe724092" /><Relationship Type="http://schemas.openxmlformats.org/officeDocument/2006/relationships/notesMaster" Target="/ppt/notesMasters/notesMaster1.xml" Id="Rccc4e8d4f99248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27d0cb324f4860" /><Relationship Type="http://schemas.openxmlformats.org/officeDocument/2006/relationships/notesMaster" Target="/ppt/notesMasters/notesMaster1.xml" Id="Rd499c027d33f4c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61e3c797e4438d" /><Relationship Type="http://schemas.openxmlformats.org/officeDocument/2006/relationships/notesMaster" Target="/ppt/notesMasters/notesMaster1.xml" Id="R06603947d67646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ff27eadfc847b5" /><Relationship Type="http://schemas.openxmlformats.org/officeDocument/2006/relationships/notesMaster" Target="/ppt/notesMasters/notesMaster1.xml" Id="Rbf9b520977cf4c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«Теневое правительство». Кейс Capibara. Первый чекпоинт. Источники: проект/checkpoint/README.md; презентация организаторов.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project/model/contract.md и project/docs/handout.md. Raw не меняем, ответы считаем из 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Результаты SQL на PostgreSQL 16.15: project/checkpoint/results/run-yzWDmFmN/q1.csv … q5.csv. Все статусы в количестве заказов и повторных оформлениях; выручка delivered.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project/checkpoint/results/run-yzWDmFmN/build_first.log и project/docs/handout.md. 550 759 строк — сумма восьми исходных таблиц.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собственного файла project/model/build.sql. Уровень позиции: (order_id,order_item_id). Заказ связан с покупателем, товарная позиция — с продавцом и товаром.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Вопрос 1: товарная цена delivered-заказов без доставки, сентябрь 2016 — август 2018. Вопрос 3: товар и доставка на уровне заказа. Вопрос 4: customer_unique_id, все статусы, что не означает завершённую покупку.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project/checkpoint/results/run-yzWDmFmN/q1.csv; 24 месяца с сентября 2016 по август 2018. Значения показаны в миллионах условной валюты источника.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project/checkpoint/results/run-yzWDmFmN/q5.csv. Красота и здоровье, часы и подарки, текстиль, спорт, компьютеры. Категории без перевода сохранены под исходным именем.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файла project/checkpoint/results/run-yzWDmFmN/control_checks.txt. 15 контрольных проверок пройдены в PostgreSQL 16.15; WARN по особенностям данных не считается ошибкой.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key_relationship_checks.txt, financial_reconciliation.txt, q5_raw_vs_core.csv и control_checks.txt из project/checkpoint/results/run-yzWDmFmN. Две сборки core совпали, raw не изменился.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Организаторы ещё не опубликовали пять следующих вопросов и вброс. Концепция дашборда и стратегия находятся в project/deliverables/dashboard.md и project/computer-2/strategy.md.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3317857364c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22ecb7d0d47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80ae229bd4f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eb1f384a740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71cc102d34f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f21f91a0946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2921E1-0DB2-4248-9054-06D3E8B4D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2AFC31-B840-40A7-8A6C-F88ED8B517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75136D-7D52-4E69-BD6B-7B9634AD4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998439-572D-4C86-ADAF-FF67C9C99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5BE420-313C-4F12-998F-27C4CB032B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BC3426-C52A-476A-9CBF-CD270756F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BFC7B5-6C55-459D-A70F-A9758217FA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A5E1A5-CFC6-4AD3-BA5C-57D4F595FE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EA9C45-07FB-43E4-8D93-3E579CC6D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206430-FD58-4A5B-A67E-0E76A5E38F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a96b95cfa45e9" /><Relationship Type="http://schemas.openxmlformats.org/officeDocument/2006/relationships/slideLayout" Target="/ppt/slideLayouts/slideLayout1.xml" Id="R9a6debdb269a4b1e" /><Relationship Type="http://schemas.openxmlformats.org/officeDocument/2006/relationships/slideLayout" Target="/ppt/slideLayouts/slideLayout2.xml" Id="R91fc83a0608d4712" /><Relationship Type="http://schemas.openxmlformats.org/officeDocument/2006/relationships/slideLayout" Target="/ppt/slideLayouts/slideLayout3.xml" Id="Rc5b62da9a3b14929" /><Relationship Type="http://schemas.openxmlformats.org/officeDocument/2006/relationships/slideLayout" Target="/ppt/slideLayouts/slideLayout4.xml" Id="R5234a9cbdca345f5" /><Relationship Type="http://schemas.openxmlformats.org/officeDocument/2006/relationships/slideLayout" Target="/ppt/slideLayouts/slideLayout5.xml" Id="R9c78578c88dc4b4b" /><Relationship Type="http://schemas.openxmlformats.org/officeDocument/2006/relationships/slideLayout" Target="/ppt/slideLayouts/slideLayout6.xml" Id="R4c0974d9f7704b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6debdb269a4b1e"/>
    <p:sldLayoutId xmlns:r="http://schemas.openxmlformats.org/officeDocument/2006/relationships" id="2147483650" r:id="R91fc83a0608d4712"/>
    <p:sldLayoutId xmlns:r="http://schemas.openxmlformats.org/officeDocument/2006/relationships" id="2147483651" r:id="Rc5b62da9a3b14929"/>
    <p:sldLayoutId xmlns:r="http://schemas.openxmlformats.org/officeDocument/2006/relationships" id="2147483652" r:id="R5234a9cbdca345f5"/>
    <p:sldLayoutId xmlns:r="http://schemas.openxmlformats.org/officeDocument/2006/relationships" id="2147483653" r:id="R9c78578c88dc4b4b"/>
    <p:sldLayoutId xmlns:r="http://schemas.openxmlformats.org/officeDocument/2006/relationships" id="2147483654" r:id="R4c0974d9f7704b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946aab1d94a24" /><Relationship Type="http://schemas.openxmlformats.org/officeDocument/2006/relationships/image" Target="/ppt/media/image.png" Id="R73fbed1ead8e40ed" /><Relationship Type="http://schemas.openxmlformats.org/officeDocument/2006/relationships/notesSlide" Target="/ppt/notesSlides/notesSlide1.xml" Id="Rcc913ddfd85b49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32034c9c045b7" /><Relationship Type="http://schemas.openxmlformats.org/officeDocument/2006/relationships/notesSlide" Target="/ppt/notesSlides/notesSlide2.xml" Id="Rc62ef1036444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a9081b46546e2" /><Relationship Type="http://schemas.openxmlformats.org/officeDocument/2006/relationships/image" Target="/ppt/media/image2.png" Id="Ra0441ebb18154200" /><Relationship Type="http://schemas.openxmlformats.org/officeDocument/2006/relationships/notesSlide" Target="/ppt/notesSlides/notesSlide3.xml" Id="Re988921af51246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b23fc9969497e" /><Relationship Type="http://schemas.openxmlformats.org/officeDocument/2006/relationships/image" Target="/ppt/media/image3.png" Id="Rfec5fd246899410e" /><Relationship Type="http://schemas.openxmlformats.org/officeDocument/2006/relationships/notesSlide" Target="/ppt/notesSlides/notesSlide4.xml" Id="R225882aeff2142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016f2cb114a2f" /><Relationship Type="http://schemas.openxmlformats.org/officeDocument/2006/relationships/image" Target="/ppt/media/image4.png" Id="Rcd052e6f15f1436e" /><Relationship Type="http://schemas.openxmlformats.org/officeDocument/2006/relationships/image" Target="/ppt/media/image5.png" Id="R72a459ad3d9c4909" /><Relationship Type="http://schemas.openxmlformats.org/officeDocument/2006/relationships/notesSlide" Target="/ppt/notesSlides/notesSlide5.xml" Id="R5b7c4990a12e46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a763c3d9e436a" /><Relationship Type="http://schemas.openxmlformats.org/officeDocument/2006/relationships/image" Target="/ppt/media/image6.png" Id="R3b6753794fd24df1" /><Relationship Type="http://schemas.openxmlformats.org/officeDocument/2006/relationships/image" Target="/ppt/media/image7.png" Id="Rbb2bec9dfdd44ba3" /><Relationship Type="http://schemas.openxmlformats.org/officeDocument/2006/relationships/image" Target="/ppt/media/image8.png" Id="Reb9f7bf799654def" /><Relationship Type="http://schemas.openxmlformats.org/officeDocument/2006/relationships/notesSlide" Target="/ppt/notesSlides/notesSlide6.xml" Id="Ra58f2e51b26940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cfb02ad5240b5" /><Relationship Type="http://schemas.openxmlformats.org/officeDocument/2006/relationships/chart" Target="/ppt/slides/charts/chart1.xml" Id="R2f14f0aefabc4fd3" /><Relationship Type="http://schemas.openxmlformats.org/officeDocument/2006/relationships/notesSlide" Target="/ppt/notesSlides/notesSlide7.xml" Id="R100e3954cf9543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8c15b73564688" /><Relationship Type="http://schemas.openxmlformats.org/officeDocument/2006/relationships/chart" Target="/ppt/slides/charts/chart2.xml" Id="R0b56d74a66a64035" /><Relationship Type="http://schemas.openxmlformats.org/officeDocument/2006/relationships/notesSlide" Target="/ppt/notesSlides/notesSlide8.xml" Id="Rc58d79cd44b144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caae7572540c0" /><Relationship Type="http://schemas.openxmlformats.org/officeDocument/2006/relationships/image" Target="/ppt/media/image9.png" Id="R0d512a1eaddb4522" /><Relationship Type="http://schemas.openxmlformats.org/officeDocument/2006/relationships/image" Target="/ppt/media/image10.png" Id="R1ba0a0afc1174c29" /><Relationship Type="http://schemas.openxmlformats.org/officeDocument/2006/relationships/notesSlide" Target="/ppt/notesSlides/notesSlide9.xml" Id="R267f2867b16140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c43f7ec9a4f31" /><Relationship Type="http://schemas.openxmlformats.org/officeDocument/2006/relationships/image" Target="/ppt/media/image11.png" Id="Rb857a72b8c764cbc" /><Relationship Type="http://schemas.openxmlformats.org/officeDocument/2006/relationships/notesSlide" Target="/ppt/notesSlides/notesSlide10.xml" Id="Ra0bca0cd07da43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f601fe40a405d" /><Relationship Type="http://schemas.openxmlformats.org/officeDocument/2006/relationships/image" Target="/ppt/media/image12.png" Id="R9666963cd12a43ce" /><Relationship Type="http://schemas.openxmlformats.org/officeDocument/2006/relationships/notesSlide" Target="/ppt/notesSlides/notesSlide11.xml" Id="Rbb96346649bd4c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Выручка, млн</c:v>
          </c:tx>
          <c:spPr>
            <a:ln xmlns:a="http://schemas.openxmlformats.org/drawingml/2006/main" w="28575">
              <a:solidFill>
                <a:srgbClr val="3957C7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16-09</c:v>
                </c:pt>
                <c:pt idx="1">
                  <c:v>16-10</c:v>
                </c:pt>
                <c:pt idx="2">
                  <c:v>16-11</c:v>
                </c:pt>
                <c:pt idx="3">
                  <c:v>16-12</c:v>
                </c:pt>
                <c:pt idx="4">
                  <c:v>17-01</c:v>
                </c:pt>
                <c:pt idx="5">
                  <c:v>17-02</c:v>
                </c:pt>
                <c:pt idx="6">
                  <c:v>17-03</c:v>
                </c:pt>
                <c:pt idx="7">
                  <c:v>17-04</c:v>
                </c:pt>
                <c:pt idx="8">
                  <c:v>17-05</c:v>
                </c:pt>
                <c:pt idx="9">
                  <c:v>17-06</c:v>
                </c:pt>
                <c:pt idx="10">
                  <c:v>17-07</c:v>
                </c:pt>
                <c:pt idx="11">
                  <c:v>17-08</c:v>
                </c:pt>
                <c:pt idx="12">
                  <c:v>17-09</c:v>
                </c:pt>
                <c:pt idx="13">
                  <c:v>17-10</c:v>
                </c:pt>
                <c:pt idx="14">
                  <c:v>17-11</c:v>
                </c:pt>
                <c:pt idx="15">
                  <c:v>17-12</c:v>
                </c:pt>
                <c:pt idx="16">
                  <c:v>18-01</c:v>
                </c:pt>
                <c:pt idx="17">
                  <c:v>18-02</c:v>
                </c:pt>
                <c:pt idx="18">
                  <c:v>18-03</c:v>
                </c:pt>
                <c:pt idx="19">
                  <c:v>18-04</c:v>
                </c:pt>
                <c:pt idx="20">
                  <c:v>18-05</c:v>
                </c:pt>
                <c:pt idx="21">
                  <c:v>18-06</c:v>
                </c:pt>
                <c:pt idx="22">
                  <c:v>18-07</c:v>
                </c:pt>
                <c:pt idx="23">
                  <c:v>18-08</c:v>
                </c:pt>
              </c:strCache>
            </c:strRef>
          </c:cat>
          <c:val>
            <c:numRef>
              <c:f>'Chart Data'!$B$2:$B$25</c:f>
              <c:numCache>
                <c:formatCode>0.0</c:formatCode>
                <c:ptCount val="24"/>
                <c:pt idx="0">
                  <c:v>0.00013497</c:v>
                </c:pt>
                <c:pt idx="1">
                  <c:v>0.04032511</c:v>
                </c:pt>
                <c:pt idx="2">
                  <c:v>0</c:v>
                </c:pt>
                <c:pt idx="3">
                  <c:v>1.09E-05</c:v>
                </c:pt>
                <c:pt idx="4">
                  <c:v>0.11179836</c:v>
                </c:pt>
                <c:pt idx="5">
                  <c:v>0.2342234</c:v>
                </c:pt>
                <c:pt idx="6">
                  <c:v>0.35919885</c:v>
                </c:pt>
                <c:pt idx="7">
                  <c:v>0.34066968</c:v>
                </c:pt>
                <c:pt idx="8">
                  <c:v>0.48933825</c:v>
                </c:pt>
                <c:pt idx="9">
                  <c:v>0.42192337</c:v>
                </c:pt>
                <c:pt idx="10">
                  <c:v>0.48160452</c:v>
                </c:pt>
                <c:pt idx="11">
                  <c:v>0.5546997</c:v>
                </c:pt>
                <c:pt idx="12">
                  <c:v>0.60739967</c:v>
                </c:pt>
                <c:pt idx="13">
                  <c:v>0.64824765</c:v>
                </c:pt>
                <c:pt idx="14">
                  <c:v>0.98776537</c:v>
                </c:pt>
                <c:pt idx="15">
                  <c:v>0.72603319</c:v>
                </c:pt>
                <c:pt idx="16">
                  <c:v>0.924645</c:v>
                </c:pt>
                <c:pt idx="17">
                  <c:v>0.82643713</c:v>
                </c:pt>
                <c:pt idx="18">
                  <c:v>0.95335625</c:v>
                </c:pt>
                <c:pt idx="19">
                  <c:v>0.97353409</c:v>
                </c:pt>
                <c:pt idx="20">
                  <c:v>0.97754469</c:v>
                </c:pt>
                <c:pt idx="21">
                  <c:v>0.85607786</c:v>
                </c:pt>
                <c:pt idx="22">
                  <c:v>0.86795346</c:v>
                </c:pt>
                <c:pt idx="23">
                  <c:v>0.83857664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LS Hauss"/>
                  <a:ea typeface="ALS Hauss"/>
                  <a:cs typeface="ALS Haus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8"/>
        </a:solidFill>
      </c:spPr>
    </c:plotArea>
    <c:plotVisOnly val="1"/>
  </c:chart>
  <c:spPr>
    <a:solidFill xmlns:a="http://schemas.openxmlformats.org/drawingml/2006/main">
      <a:srgbClr val="F6F3E8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Выручка, млн</c:v>
          </c:tx>
          <c:spPr>
            <a:solidFill xmlns:a="http://schemas.openxmlformats.org/drawingml/2006/main">
              <a:srgbClr val="3957C7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Красота</c:v>
                </c:pt>
                <c:pt idx="1">
                  <c:v>Часы</c:v>
                </c:pt>
                <c:pt idx="2">
                  <c:v>Текстиль</c:v>
                </c:pt>
                <c:pt idx="3">
                  <c:v>Спорт</c:v>
                </c:pt>
                <c:pt idx="4">
                  <c:v>Компьютеры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1.23313172</c:v>
                </c:pt>
                <c:pt idx="1">
                  <c:v>1.16617698</c:v>
                </c:pt>
                <c:pt idx="2">
                  <c:v>1.02343476</c:v>
                </c:pt>
                <c:pt idx="3">
                  <c:v>0.95485255</c:v>
                </c:pt>
                <c:pt idx="4">
                  <c:v>0.88872461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LS Hauss"/>
                  <a:ea typeface="ALS Hauss"/>
                  <a:cs typeface="ALS Haus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8"/>
        </a:solidFill>
      </c:spPr>
    </c:plotArea>
    <c:plotVisOnly val="1"/>
  </c:chart>
  <c:spPr>
    <a:solidFill xmlns:a="http://schemas.openxmlformats.org/drawingml/2006/main">
      <a:srgbClr val="F6F3E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ТЕНЕВОЕ ПРАВИТЕЛЬСТВО">
            <a:extLst xmlns:a="http://schemas.openxmlformats.org/drawingml/2006/main">
              <a:ext uri="{FF2B5EF4-FFF2-40B4-BE49-F238E27FC236}">
                <a16:creationId xmlns:a16="http://schemas.microsoft.com/office/drawing/2014/main" id="{8E1540AD-BCC7-4866-8168-F3CB555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ТЕНЕВОЕ ПРАВИТЕЛЬСТВО</a:t>
            </a:r>
          </a:p>
        </p:txBody>
      </p:sp>
      <p:sp>
        <p:nvSpPr>
          <p:cNvPr id="2" name="Факторный">
            <a:extLst xmlns:a="http://schemas.openxmlformats.org/drawingml/2006/main">
              <a:ext uri="{FF2B5EF4-FFF2-40B4-BE49-F238E27FC236}">
                <a16:creationId xmlns:a16="http://schemas.microsoft.com/office/drawing/2014/main" id="{51F1D7FA-A569-4C5E-842A-D22D313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742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Модель данных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маркетплейса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Capibara</a:t>
            </a:r>
          </a:p>
        </p:txBody>
      </p:sp>
      <p:sp>
        <p:nvSpPr>
          <p:cNvPr id="3" name="Результаты первого спринта">
            <a:extLst xmlns:a="http://schemas.openxmlformats.org/drawingml/2006/main">
              <a:ext uri="{FF2B5EF4-FFF2-40B4-BE49-F238E27FC236}">
                <a16:creationId xmlns:a16="http://schemas.microsoft.com/office/drawing/2014/main" id="{0ACC54EA-0174-4837-B172-E886A7AE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2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Первый чекпоинт</a:t>
            </a:r>
          </a:p>
        </p:txBody>
      </p:sp>
      <p:sp>
        <p:nvSpPr>
          <p:cNvPr id="4" name="Денежные потоки сделки">
            <a:extLst xmlns:a="http://schemas.openxmlformats.org/drawingml/2006/main">
              <a:ext uri="{FF2B5EF4-FFF2-40B4-BE49-F238E27FC236}">
                <a16:creationId xmlns:a16="http://schemas.microsoft.com/office/drawing/2014/main" id="{2B4240E2-2B0A-4E1A-9FEB-94DD7C16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Восемь выгрузок, пять ответов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 проверенная модель данных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78D72AD-5DAB-4D1A-A05F-D38C51300E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bed1ead8e40ed"/>
          <a:stretch xmlns:a="http://schemas.openxmlformats.org/drawingml/2006/main"/>
        </p:blipFill>
        <p:spPr>
          <a:xfrm xmlns:a="http://schemas.openxmlformats.org/drawingml/2006/main">
            <a:off x="7324725" y="2676525"/>
            <a:ext cx="4533900" cy="3400425"/>
          </a:xfrm>
          <a:prstGeom xmlns:a="http://schemas.openxmlformats.org/drawingml/2006/main" prst="rect">
            <a:avLst/>
          </a:prstGeom>
        </p:spPr>
      </p:pic>
      <p:sp>
        <p:nvSpPr>
          <p:cNvPr id="6" name="01 / 14">
            <a:extLst xmlns:a="http://schemas.openxmlformats.org/drawingml/2006/main">
              <a:ext uri="{FF2B5EF4-FFF2-40B4-BE49-F238E27FC236}">
                <a16:creationId xmlns:a16="http://schemas.microsoft.com/office/drawing/2014/main" id="{C58CFAEF-FA4F-4CEC-92EF-057C772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01 / 11</a:t>
            </a:r>
            <a:endParaRPr sz="1275">
              <a:solidFill>
                <a:srgbClr val="FFFFFF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1540695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Наше место в общем кейсе">
            <a:extLst xmlns:a="http://schemas.openxmlformats.org/drawingml/2006/main">
              <a:ext uri="{FF2B5EF4-FFF2-40B4-BE49-F238E27FC236}">
                <a16:creationId xmlns:a16="http://schemas.microsoft.com/office/drawing/2014/main" id="{56CD4ECA-2788-40A1-8845-D703FD30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Наше решение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353381-75FD-4CB6-8662-2EBA1279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BFB68B0-03A6-4CC3-914F-A80AC94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01</a:t>
            </a:r>
          </a:p>
        </p:txBody>
      </p:sp>
      <p:sp>
        <p:nvSpPr>
          <p:cNvPr id="4" name="Денежные">
            <a:extLst xmlns:a="http://schemas.openxmlformats.org/drawingml/2006/main">
              <a:ext uri="{FF2B5EF4-FFF2-40B4-BE49-F238E27FC236}">
                <a16:creationId xmlns:a16="http://schemas.microsoft.com/office/drawing/2014/main" id="{9F309F15-1F5C-4AEB-A53F-6F4E05A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Исходные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данные</a:t>
            </a:r>
          </a:p>
        </p:txBody>
      </p:sp>
      <p:sp>
        <p:nvSpPr>
          <p:cNvPr id="5" name="Графики платежей">
            <a:extLst xmlns:a="http://schemas.openxmlformats.org/drawingml/2006/main">
              <a:ext uri="{FF2B5EF4-FFF2-40B4-BE49-F238E27FC236}">
                <a16:creationId xmlns:a16="http://schemas.microsoft.com/office/drawing/2014/main" id="{0A33D3AA-EC94-488E-8E09-E25D83BC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8 таблиц raw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550 759 строк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8522B42-974A-42C1-AED2-F373CE2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792E41B-F1C4-45F6-87EF-A2251E47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02</a:t>
            </a:r>
          </a:p>
        </p:txBody>
      </p:sp>
      <p:sp>
        <p:nvSpPr>
          <p:cNvPr id="8" name="Сценарии">
            <a:extLst xmlns:a="http://schemas.openxmlformats.org/drawingml/2006/main">
              <a:ext uri="{FF2B5EF4-FFF2-40B4-BE49-F238E27FC236}">
                <a16:creationId xmlns:a16="http://schemas.microsoft.com/office/drawing/2014/main" id="{127C55B5-5129-4B9A-881E-A48295E7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Модель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данных</a:t>
            </a:r>
          </a:p>
        </p:txBody>
      </p:sp>
      <p:sp>
        <p:nvSpPr>
          <p:cNvPr id="9" name="Кривые ставок,">
            <a:extLst xmlns:a="http://schemas.openxmlformats.org/drawingml/2006/main">
              <a:ext uri="{FF2B5EF4-FFF2-40B4-BE49-F238E27FC236}">
                <a16:creationId xmlns:a16="http://schemas.microsoft.com/office/drawing/2014/main" id="{704E1CAD-3DF0-45B2-8BFF-A8420DA7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Заказы, позиции,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платежи и отзывы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B81093-38D2-4E2F-9CF6-C8399010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06BD4C4D-66B4-4778-91D2-2EFAAFBD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03</a:t>
            </a:r>
          </a:p>
        </p:txBody>
      </p:sp>
      <p:sp>
        <p:nvSpPr>
          <p:cNvPr id="12" name="Факторный">
            <a:extLst xmlns:a="http://schemas.openxmlformats.org/drawingml/2006/main">
              <a:ext uri="{FF2B5EF4-FFF2-40B4-BE49-F238E27FC236}">
                <a16:creationId xmlns:a16="http://schemas.microsoft.com/office/drawing/2014/main" id="{5F527230-417C-4068-AFEC-3732A7F7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Ответы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аналитикам</a:t>
            </a:r>
          </a:p>
        </p:txBody>
      </p:sp>
      <p:sp>
        <p:nvSpPr>
          <p:cNvPr id="13" name="Вклады факторов">
            <a:extLst xmlns:a="http://schemas.openxmlformats.org/drawingml/2006/main">
              <a:ext uri="{FF2B5EF4-FFF2-40B4-BE49-F238E27FC236}">
                <a16:creationId xmlns:a16="http://schemas.microsoft.com/office/drawing/2014/main" id="{8A774B53-41A3-405C-B10A-B0FA125C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Пять SQL-запросов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 проверки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DFA728B-D4E9-4415-81FC-4A13A81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2192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15" name="Наш спринт: подготовить расчётную базу для части 3">
            <a:extLst xmlns:a="http://schemas.openxmlformats.org/drawingml/2006/main">
              <a:ext uri="{FF2B5EF4-FFF2-40B4-BE49-F238E27FC236}">
                <a16:creationId xmlns:a16="http://schemas.microsoft.com/office/drawing/2014/main" id="{A23D4A50-BE01-419F-B96D-8230ED60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Модель построена для вопросов, которые появятся позже</a:t>
            </a:r>
          </a:p>
        </p:txBody>
      </p:sp>
      <p:sp>
        <p:nvSpPr>
          <p:cNvPr id="16" name="ARIMAX: отдельная задача прогноза новых выдач для динамического баланс">
            <a:extLst xmlns:a="http://schemas.openxmlformats.org/drawingml/2006/main">
              <a:ext uri="{FF2B5EF4-FFF2-40B4-BE49-F238E27FC236}">
                <a16:creationId xmlns:a16="http://schemas.microsoft.com/office/drawing/2014/main" id="{C48444EC-BA87-440A-AF28-D2236510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3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Снимок данных Olist за 2016–2018 годы</a:t>
            </a:r>
          </a:p>
        </p:txBody>
      </p:sp>
      <p:sp>
        <p:nvSpPr>
          <p:cNvPr id="17" name="02 / 14">
            <a:extLst xmlns:a="http://schemas.openxmlformats.org/drawingml/2006/main">
              <a:ext uri="{FF2B5EF4-FFF2-40B4-BE49-F238E27FC236}">
                <a16:creationId xmlns:a16="http://schemas.microsoft.com/office/drawing/2014/main" id="{56AD4FAA-B61E-4A84-8097-6635982A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02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408058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ять задач первого спринта">
            <a:extLst xmlns:a="http://schemas.openxmlformats.org/drawingml/2006/main">
              <a:ext uri="{FF2B5EF4-FFF2-40B4-BE49-F238E27FC236}">
                <a16:creationId xmlns:a16="http://schemas.microsoft.com/office/drawing/2014/main" id="{9E16E136-4EE2-43F9-915B-0DFBA8A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Пять вопросов аналитиков</a:t>
            </a:r>
          </a:p>
        </p:txBody>
      </p:sp>
      <p:graphicFrame>
        <p:nvGraphicFramePr>
          <p:cNvPr id="2" name="Table 1">
            <a:extLst xmlns:a="http://schemas.openxmlformats.org/drawingml/2006/main">
              <a:ext uri="{FF2B5EF4-FFF2-40B4-BE49-F238E27FC236}">
                <a16:creationId xmlns:a16="http://schemas.microsoft.com/office/drawing/2014/main" id="{134E4B07-33B4-47A9-9CD6-E1D602896DFD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79248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33700"/>
                <a:gridCol w="4991100"/>
              </a:tblGrid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Вопрос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Результат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Выручка по месяцам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13 221 498,11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Топ продавцов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Лидер: 226 987,93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Средний чек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159,88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Покупатели и повторные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96 096 / 2 997 (3,12%)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Выручка по категориям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74 группы; сумма сошлась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2AEC781-8C30-482A-ADDA-5CD1A9B6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09725"/>
            <a:ext cx="32861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ABF6BD5-F4BA-4B3D-B6D8-1280C1F57B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41ebb18154200"/>
          <a:stretch xmlns:a="http://schemas.openxmlformats.org/drawingml/2006/main"/>
        </p:blipFill>
        <p:spPr>
          <a:xfrm xmlns:a="http://schemas.openxmlformats.org/drawingml/2006/main">
            <a:off x="9096375" y="2470150"/>
            <a:ext cx="2819400" cy="1879600"/>
          </a:xfrm>
          <a:prstGeom xmlns:a="http://schemas.openxmlformats.org/drawingml/2006/main" prst="rect">
            <a:avLst/>
          </a:prstGeom>
        </p:spPr>
      </p:pic>
      <p:sp>
        <p:nvSpPr>
          <p:cNvPr id="5" name="5 задач выполнены">
            <a:extLst xmlns:a="http://schemas.openxmlformats.org/drawingml/2006/main">
              <a:ext uri="{FF2B5EF4-FFF2-40B4-BE49-F238E27FC236}">
                <a16:creationId xmlns:a16="http://schemas.microsoft.com/office/drawing/2014/main" id="{B8657CDD-D9E9-40E0-8AEB-7110D6DF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72050"/>
            <a:ext cx="2752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5 ответов готовы</a:t>
            </a:r>
          </a:p>
        </p:txBody>
      </p:sp>
      <p:sp>
        <p:nvSpPr>
          <p:cNvPr id="6" name="Результаты можно повторить из входного JSON">
            <a:extLst xmlns:a="http://schemas.openxmlformats.org/drawingml/2006/main">
              <a:ext uri="{FF2B5EF4-FFF2-40B4-BE49-F238E27FC236}">
                <a16:creationId xmlns:a16="http://schemas.microsoft.com/office/drawing/2014/main" id="{7D73EF16-2AE3-455E-9ACF-519ACBBD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rPr>
              <a:t>Все ответы получены из модели core</a:t>
            </a:r>
          </a:p>
        </p:txBody>
      </p:sp>
      <p:sp>
        <p:nvSpPr>
          <p:cNvPr id="7" name="03 / 14">
            <a:extLst xmlns:a="http://schemas.openxmlformats.org/drawingml/2006/main">
              <a:ext uri="{FF2B5EF4-FFF2-40B4-BE49-F238E27FC236}">
                <a16:creationId xmlns:a16="http://schemas.microsoft.com/office/drawing/2014/main" id="{A0E52896-BDFF-44FD-9C65-C5B07B3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03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1281802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09A9F9F-7DA9-480F-BD04-FF54727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2" name="Одна сделка.">
            <a:extLst xmlns:a="http://schemas.openxmlformats.org/drawingml/2006/main">
              <a:ext uri="{FF2B5EF4-FFF2-40B4-BE49-F238E27FC236}">
                <a16:creationId xmlns:a16="http://schemas.microsoft.com/office/drawing/2014/main" id="{FC0088CB-088F-46F9-85F6-D75050BA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Исходные данные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маркетплейса</a:t>
            </a:r>
          </a:p>
        </p:txBody>
      </p:sp>
      <p:sp>
        <p:nvSpPr>
          <p:cNvPr id="3" name="3 646 037,89">
            <a:extLst xmlns:a="http://schemas.openxmlformats.org/drawingml/2006/main">
              <a:ext uri="{FF2B5EF4-FFF2-40B4-BE49-F238E27FC236}">
                <a16:creationId xmlns:a16="http://schemas.microsoft.com/office/drawing/2014/main" id="{3C0F1275-BD4A-4C71-9A06-12485D3C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48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550 759</a:t>
            </a:r>
          </a:p>
        </p:txBody>
      </p:sp>
      <p:sp>
        <p:nvSpPr>
          <p:cNvPr id="4" name="RUB  •  остаток на дату оценки">
            <a:extLst xmlns:a="http://schemas.openxmlformats.org/drawingml/2006/main">
              <a:ext uri="{FF2B5EF4-FFF2-40B4-BE49-F238E27FC236}">
                <a16:creationId xmlns:a16="http://schemas.microsoft.com/office/drawing/2014/main" id="{714FFE87-9500-420C-B99E-95EB9D3A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строк в восьми исходных таблицах</a:t>
            </a:r>
          </a:p>
        </p:txBody>
      </p:sp>
      <p:sp>
        <p:nvSpPr>
          <p:cNvPr id="5" name="7,5% годовых">
            <a:extLst xmlns:a="http://schemas.openxmlformats.org/drawingml/2006/main">
              <a:ext uri="{FF2B5EF4-FFF2-40B4-BE49-F238E27FC236}">
                <a16:creationId xmlns:a16="http://schemas.microsoft.com/office/drawing/2014/main" id="{54D92063-C2E1-495E-800A-FE7D933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381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99 441</a:t>
            </a:r>
          </a:p>
        </p:txBody>
      </p:sp>
      <p:sp>
        <p:nvSpPr>
          <p:cNvPr id="6" name="Фиксированная кредитная ставка">
            <a:extLst xmlns:a="http://schemas.openxmlformats.org/drawingml/2006/main">
              <a:ext uri="{FF2B5EF4-FFF2-40B4-BE49-F238E27FC236}">
                <a16:creationId xmlns:a16="http://schemas.microsoft.com/office/drawing/2014/main" id="{6561A697-A4AD-43AC-A03C-A56966DD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538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заказ в исходном снимке</a:t>
            </a:r>
          </a:p>
        </p:txBody>
      </p:sp>
      <p:sp>
        <p:nvSpPr>
          <p:cNvPr id="7" name="Календарь расчёта">
            <a:extLst xmlns:a="http://schemas.openxmlformats.org/drawingml/2006/main">
              <a:ext uri="{FF2B5EF4-FFF2-40B4-BE49-F238E27FC236}">
                <a16:creationId xmlns:a16="http://schemas.microsoft.com/office/drawing/2014/main" id="{19E717F4-FDCF-4CBB-9B0E-4912AAFF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858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Состав модели</a:t>
            </a:r>
          </a:p>
        </p:txBody>
      </p:sp>
      <p:sp>
        <p:nvSpPr>
          <p:cNvPr id="8" name="31.08.2022">
            <a:extLst xmlns:a="http://schemas.openxmlformats.org/drawingml/2006/main">
              <a:ext uri="{FF2B5EF4-FFF2-40B4-BE49-F238E27FC236}">
                <a16:creationId xmlns:a16="http://schemas.microsoft.com/office/drawing/2014/main" id="{B059383A-EA0C-473E-9F4E-5D30CB9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8</a:t>
            </a:r>
          </a:p>
        </p:txBody>
      </p:sp>
      <p:sp>
        <p:nvSpPr>
          <p:cNvPr id="9" name="Дата оценки">
            <a:extLst xmlns:a="http://schemas.openxmlformats.org/drawingml/2006/main">
              <a:ext uri="{FF2B5EF4-FFF2-40B4-BE49-F238E27FC236}">
                <a16:creationId xmlns:a16="http://schemas.microsoft.com/office/drawing/2014/main" id="{F189B11B-90AE-43DF-8C63-E0F687C7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исходных таблиц raw</a:t>
            </a:r>
          </a:p>
        </p:txBody>
      </p:sp>
      <p:sp>
        <p:nvSpPr>
          <p:cNvPr id="10" name="22.09.2022">
            <a:extLst xmlns:a="http://schemas.openxmlformats.org/drawingml/2006/main">
              <a:ext uri="{FF2B5EF4-FFF2-40B4-BE49-F238E27FC236}">
                <a16:creationId xmlns:a16="http://schemas.microsoft.com/office/drawing/2014/main" id="{2871BD89-23BF-432D-8E53-0D94661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9557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8</a:t>
            </a:r>
          </a:p>
        </p:txBody>
      </p:sp>
      <p:sp>
        <p:nvSpPr>
          <p:cNvPr id="11" name="Первый платёж">
            <a:extLst xmlns:a="http://schemas.openxmlformats.org/drawingml/2006/main">
              <a:ext uri="{FF2B5EF4-FFF2-40B4-BE49-F238E27FC236}">
                <a16:creationId xmlns:a16="http://schemas.microsoft.com/office/drawing/2014/main" id="{9A94F5E3-1E99-4733-B0B3-0DDA265C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76575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таблиц в модели core</a:t>
            </a:r>
          </a:p>
        </p:txBody>
      </p:sp>
      <p:sp>
        <p:nvSpPr>
          <p:cNvPr id="12" name="15.06.2050">
            <a:extLst xmlns:a="http://schemas.openxmlformats.org/drawingml/2006/main">
              <a:ext uri="{FF2B5EF4-FFF2-40B4-BE49-F238E27FC236}">
                <a16:creationId xmlns:a16="http://schemas.microsoft.com/office/drawing/2014/main" id="{17413832-E01C-4C32-8F58-9CEE68A3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99 441</a:t>
            </a:r>
          </a:p>
        </p:txBody>
      </p:sp>
      <p:sp>
        <p:nvSpPr>
          <p:cNvPr id="13" name="Полное погашение">
            <a:extLst xmlns:a="http://schemas.openxmlformats.org/drawingml/2006/main">
              <a:ext uri="{FF2B5EF4-FFF2-40B4-BE49-F238E27FC236}">
                <a16:creationId xmlns:a16="http://schemas.microsoft.com/office/drawing/2014/main" id="{DA0DB799-8FA0-44B2-BDF0-4A4A074C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записей покупателей</a:t>
            </a:r>
          </a:p>
        </p:txBody>
      </p:sp>
      <p:sp>
        <p:nvSpPr>
          <p:cNvPr id="14" name="334 платежа">
            <a:extLst xmlns:a="http://schemas.openxmlformats.org/drawingml/2006/main">
              <a:ext uri="{FF2B5EF4-FFF2-40B4-BE49-F238E27FC236}">
                <a16:creationId xmlns:a16="http://schemas.microsoft.com/office/drawing/2014/main" id="{2B11321F-B638-41CE-9032-AE98ACC5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529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112 650</a:t>
            </a:r>
          </a:p>
        </p:txBody>
      </p:sp>
      <p:sp>
        <p:nvSpPr>
          <p:cNvPr id="15" name="Ежемесячный график">
            <a:extLst xmlns:a="http://schemas.openxmlformats.org/drawingml/2006/main">
              <a:ext uri="{FF2B5EF4-FFF2-40B4-BE49-F238E27FC236}">
                <a16:creationId xmlns:a16="http://schemas.microsoft.com/office/drawing/2014/main" id="{7DB7F19D-2D9C-447E-817E-0AACACB1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33925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товарных позиций</a:t>
            </a:r>
          </a:p>
        </p:txBody>
      </p:sp>
      <p:sp>
        <p:nvSpPr>
          <p:cNvPr id="16" name="ACT/365F">
            <a:extLst xmlns:a="http://schemas.openxmlformats.org/drawingml/2006/main">
              <a:ext uri="{FF2B5EF4-FFF2-40B4-BE49-F238E27FC236}">
                <a16:creationId xmlns:a16="http://schemas.microsoft.com/office/drawing/2014/main" id="{4317564B-F4C4-43C1-AEBB-83A8AB5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816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2016–2018</a:t>
            </a:r>
          </a:p>
        </p:txBody>
      </p:sp>
      <p:sp>
        <p:nvSpPr>
          <p:cNvPr id="17" name="Фактические дни / 365">
            <a:extLst xmlns:a="http://schemas.openxmlformats.org/drawingml/2006/main">
              <a:ext uri="{FF2B5EF4-FFF2-40B4-BE49-F238E27FC236}">
                <a16:creationId xmlns:a16="http://schemas.microsoft.com/office/drawing/2014/main" id="{4CE3959F-DA6D-4539-ACAB-C86DE07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период исходной выгрузки</a:t>
            </a: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57D530E4-11F1-432A-B7D8-FAE31CE8D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5fd246899410e"/>
          <a:stretch xmlns:a="http://schemas.openxmlformats.org/drawingml/2006/main"/>
        </p:blipFill>
        <p:spPr>
          <a:xfrm xmlns:a="http://schemas.openxmlformats.org/drawingml/2006/main">
            <a:off x="9886950" y="2559844"/>
            <a:ext cx="1990725" cy="2986088"/>
          </a:xfrm>
          <a:prstGeom xmlns:a="http://schemas.openxmlformats.org/drawingml/2006/main" prst="rect">
            <a:avLst/>
          </a:prstGeom>
        </p:spPr>
      </p:pic>
      <p:sp>
        <p:nvSpPr>
          <p:cNvPr id="19" name="Дисконтная ставка 7,5% задаётся отдельно как учебное допущение">
            <a:extLst xmlns:a="http://schemas.openxmlformats.org/drawingml/2006/main">
              <a:ext uri="{FF2B5EF4-FFF2-40B4-BE49-F238E27FC236}">
                <a16:creationId xmlns:a16="http://schemas.microsoft.com/office/drawing/2014/main" id="{952DA59E-CA2F-4B7F-A43C-7DD8EFE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5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Источник: обезличенные данные Olist</a:t>
            </a:r>
          </a:p>
        </p:txBody>
      </p:sp>
      <p:sp>
        <p:nvSpPr>
          <p:cNvPr id="20" name="04 / 14">
            <a:extLst xmlns:a="http://schemas.openxmlformats.org/drawingml/2006/main">
              <a:ext uri="{FF2B5EF4-FFF2-40B4-BE49-F238E27FC236}">
                <a16:creationId xmlns:a16="http://schemas.microsoft.com/office/drawing/2014/main" id="{B01758A7-CB51-4C21-B6D9-1F4C110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04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893575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к получаются платежи ANN">
            <a:extLst xmlns:a="http://schemas.openxmlformats.org/drawingml/2006/main">
              <a:ext uri="{FF2B5EF4-FFF2-40B4-BE49-F238E27FC236}">
                <a16:creationId xmlns:a16="http://schemas.microsoft.com/office/drawing/2014/main" id="{A5746262-80EA-4C75-99D3-0AD9D64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Ключи и связи модели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22FA3D2-F8FA-423E-B155-BFEE13B7F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52e6f15f1436e"/>
          <a:stretch xmlns:a="http://schemas.openxmlformats.org/drawingml/2006/main"/>
        </p:blipFill>
        <p:spPr>
          <a:xfrm xmlns:a="http://schemas.openxmlformats.org/drawingml/2006/main">
            <a:off x="9429750" y="1454150"/>
            <a:ext cx="2352675" cy="15684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093F2E1-A885-484F-B2B6-9328D16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8" name="Последний платёж 26 005,46 RUB закрывает остаток после округления">
            <a:extLst xmlns:a="http://schemas.openxmlformats.org/drawingml/2006/main">
              <a:ext uri="{FF2B5EF4-FFF2-40B4-BE49-F238E27FC236}">
                <a16:creationId xmlns:a16="http://schemas.microsoft.com/office/drawing/2014/main" id="{F1493078-4930-4543-86C0-781ABA12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Позиция определяется парой order_id и order_item_id</a:t>
            </a:r>
          </a:p>
        </p:txBody>
      </p:sp>
      <p:sp>
        <p:nvSpPr>
          <p:cNvPr id="9" name="05 / 14">
            <a:extLst xmlns:a="http://schemas.openxmlformats.org/drawingml/2006/main">
              <a:ext uri="{FF2B5EF4-FFF2-40B4-BE49-F238E27FC236}">
                <a16:creationId xmlns:a16="http://schemas.microsoft.com/office/drawing/2014/main" id="{BB49096C-82B3-4117-8AC6-58EC732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05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FC81A-90F7-4532-BA17-82138523E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459ad3d9c4909"/>
          <a:stretch xmlns:a="http://schemas.openxmlformats.org/drawingml/2006/main"/>
        </p:blipFill>
        <p:spPr>
          <a:xfrm xmlns:a="http://schemas.openxmlformats.org/drawingml/2006/main">
            <a:off x="918382" y="1504950"/>
            <a:ext cx="6107085" cy="4048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5C93A-4A4F-43C7-8575-BDCA79A0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05125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Заказ связан</a:t>
            </a:r>
          </a:p>
          <a:p xmlns:a="http://schemas.openxmlformats.org/drawingml/2006/main">
            <a: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 покупателем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Позиция связана</a:t>
            </a:r>
          </a:p>
          <a:p xmlns:a="http://schemas.openxmlformats.org/drawingml/2006/main">
            <a: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 товаром и продавцом</a:t>
            </a:r>
          </a:p>
        </p:txBody>
      </p:sp>
    </p:spTree>
    <p:extLst>
      <p:ext uri="{BB962C8B-B14F-4D97-AF65-F5344CB8AC3E}">
        <p14:creationId xmlns:p14="http://schemas.microsoft.com/office/powerpoint/2010/main" val="2040217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8C9ED85-56C7-491C-B91C-622FBD3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2" name="ANN">
            <a:extLst xmlns:a="http://schemas.openxmlformats.org/drawingml/2006/main">
              <a:ext uri="{FF2B5EF4-FFF2-40B4-BE49-F238E27FC236}">
                <a16:creationId xmlns:a16="http://schemas.microsoft.com/office/drawing/2014/main" id="{72C3FA1A-9996-4773-B6B8-D586A5C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Выручка</a:t>
            </a:r>
          </a:p>
        </p:txBody>
      </p:sp>
      <p:sp>
        <p:nvSpPr>
          <p:cNvPr id="3" name="Аннуитет">
            <a:extLst xmlns:a="http://schemas.openxmlformats.org/drawingml/2006/main">
              <a:ext uri="{FF2B5EF4-FFF2-40B4-BE49-F238E27FC236}">
                <a16:creationId xmlns:a16="http://schemas.microsoft.com/office/drawing/2014/main" id="{FAAC4434-1085-42DF-BCDA-986F0F4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Товары без доставки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1FAACBA-6A20-47AD-BBB8-25193D14DB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753794fd24df1"/>
          <a:stretch xmlns:a="http://schemas.openxmlformats.org/drawingml/2006/main"/>
        </p:blipFill>
        <p:spPr>
          <a:xfrm xmlns:a="http://schemas.openxmlformats.org/drawingml/2006/main">
            <a:off x="647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Платёж почти постоянный.">
            <a:extLst xmlns:a="http://schemas.openxmlformats.org/drawingml/2006/main">
              <a:ext uri="{FF2B5EF4-FFF2-40B4-BE49-F238E27FC236}">
                <a16:creationId xmlns:a16="http://schemas.microsoft.com/office/drawing/2014/main" id="{C0FBA470-2F25-442F-BBA7-B3FFFFF1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Суммируем цены позиций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доставленных заказов.</a:t>
            </a:r>
          </a:p>
        </p:txBody>
      </p:sp>
      <p:sp>
        <p:nvSpPr>
          <p:cNvPr id="6" name="26 003,20 RUB">
            <a:extLst xmlns:a="http://schemas.openxmlformats.org/drawingml/2006/main">
              <a:ext uri="{FF2B5EF4-FFF2-40B4-BE49-F238E27FC236}">
                <a16:creationId xmlns:a16="http://schemas.microsoft.com/office/drawing/2014/main" id="{701D6143-8830-4E3E-AF10-D3FC9D0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13 221 498,11</a:t>
            </a:r>
          </a:p>
        </p:txBody>
      </p:sp>
      <p:sp>
        <p:nvSpPr>
          <p:cNvPr id="7" name="Регулярный платёж">
            <a:extLst xmlns:a="http://schemas.openxmlformats.org/drawingml/2006/main">
              <a:ext uri="{FF2B5EF4-FFF2-40B4-BE49-F238E27FC236}">
                <a16:creationId xmlns:a16="http://schemas.microsoft.com/office/drawing/2014/main" id="{DB224EAC-7630-459A-BC12-F7969B92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за выбранный период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FF6EA5-9E44-4ED9-8BB2-ECC3D95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9" name="SIMPLE">
            <a:extLst xmlns:a="http://schemas.openxmlformats.org/drawingml/2006/main">
              <a:ext uri="{FF2B5EF4-FFF2-40B4-BE49-F238E27FC236}">
                <a16:creationId xmlns:a16="http://schemas.microsoft.com/office/drawing/2014/main" id="{E7A94F15-88DE-4AD4-8B32-D387A8A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Чек</a:t>
            </a:r>
          </a:p>
        </p:txBody>
      </p:sp>
      <p:sp>
        <p:nvSpPr>
          <p:cNvPr id="10" name="Тело в конце">
            <a:extLst xmlns:a="http://schemas.openxmlformats.org/drawingml/2006/main">
              <a:ext uri="{FF2B5EF4-FFF2-40B4-BE49-F238E27FC236}">
                <a16:creationId xmlns:a16="http://schemas.microsoft.com/office/drawing/2014/main" id="{EB0DE859-4992-41FC-A4C9-07465B21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Заказ целиком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6F70EF7B-A15F-431F-90D4-30185CD7BE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bec9dfdd44ba3"/>
          <a:stretch xmlns:a="http://schemas.openxmlformats.org/drawingml/2006/main"/>
        </p:blipFill>
        <p:spPr>
          <a:xfrm xmlns:a="http://schemas.openxmlformats.org/drawingml/2006/main">
            <a:off x="4711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12" name="Платим только проценты.">
            <a:extLst xmlns:a="http://schemas.openxmlformats.org/drawingml/2006/main">
              <a:ext uri="{FF2B5EF4-FFF2-40B4-BE49-F238E27FC236}">
                <a16:creationId xmlns:a16="http://schemas.microsoft.com/office/drawing/2014/main" id="{2E417330-B36A-40D1-AB19-77A0797C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Сначала товары и доставка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на уровне заказа.</a:t>
            </a:r>
          </a:p>
        </p:txBody>
      </p:sp>
      <p:sp>
        <p:nvSpPr>
          <p:cNvPr id="13" name="3 664 018,35 RUB">
            <a:extLst xmlns:a="http://schemas.openxmlformats.org/drawingml/2006/main">
              <a:ext uri="{FF2B5EF4-FFF2-40B4-BE49-F238E27FC236}">
                <a16:creationId xmlns:a16="http://schemas.microsoft.com/office/drawing/2014/main" id="{4A7AF9D1-9A08-4C5D-A6C4-2E33A2E7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159,88</a:t>
            </a:r>
          </a:p>
        </p:txBody>
      </p:sp>
      <p:sp>
        <p:nvSpPr>
          <p:cNvPr id="14" name="Последний платёж">
            <a:extLst xmlns:a="http://schemas.openxmlformats.org/drawingml/2006/main">
              <a:ext uri="{FF2B5EF4-FFF2-40B4-BE49-F238E27FC236}">
                <a16:creationId xmlns:a16="http://schemas.microsoft.com/office/drawing/2014/main" id="{FBBFA399-AFA3-4638-8711-4E1A13A1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средний чек заказа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F3258FE-29F0-4EC2-AF3D-8280AC2D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16" name="RGM">
            <a:extLst xmlns:a="http://schemas.openxmlformats.org/drawingml/2006/main">
              <a:ext uri="{FF2B5EF4-FFF2-40B4-BE49-F238E27FC236}">
                <a16:creationId xmlns:a16="http://schemas.microsoft.com/office/drawing/2014/main" id="{9849E725-6218-4658-83A4-B82C6E02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Люди</a:t>
            </a:r>
          </a:p>
        </p:txBody>
      </p:sp>
      <p:sp>
        <p:nvSpPr>
          <p:cNvPr id="17" name="Равное тело">
            <a:extLst xmlns:a="http://schemas.openxmlformats.org/drawingml/2006/main">
              <a:ext uri="{FF2B5EF4-FFF2-40B4-BE49-F238E27FC236}">
                <a16:creationId xmlns:a16="http://schemas.microsoft.com/office/drawing/2014/main" id="{4392343D-1DA0-4F44-A793-39E1C43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Устойчивый ID</a:t>
            </a: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5A918B62-AC48-4FD4-859F-FA73AF053E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f7bf799654def"/>
          <a:stretch xmlns:a="http://schemas.openxmlformats.org/drawingml/2006/main"/>
        </p:blipFill>
        <p:spPr>
          <a:xfrm xmlns:a="http://schemas.openxmlformats.org/drawingml/2006/main">
            <a:off x="8775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19" name="Регулярно гасим равное тело.">
            <a:extLst xmlns:a="http://schemas.openxmlformats.org/drawingml/2006/main">
              <a:ext uri="{FF2B5EF4-FFF2-40B4-BE49-F238E27FC236}">
                <a16:creationId xmlns:a16="http://schemas.microsoft.com/office/drawing/2014/main" id="{0268E8A6-AA5D-4A58-830A-3C7BD292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Повторные оформления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 всем статусам.</a:t>
            </a:r>
          </a:p>
        </p:txBody>
      </p:sp>
      <p:sp>
        <p:nvSpPr>
          <p:cNvPr id="20" name="10 916,28 RUB">
            <a:extLst xmlns:a="http://schemas.openxmlformats.org/drawingml/2006/main">
              <a:ext uri="{FF2B5EF4-FFF2-40B4-BE49-F238E27FC236}">
                <a16:creationId xmlns:a16="http://schemas.microsoft.com/office/drawing/2014/main" id="{9F3FDFFF-4055-401F-8184-4DDC01C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96 096</a:t>
            </a:r>
          </a:p>
        </p:txBody>
      </p:sp>
      <p:sp>
        <p:nvSpPr>
          <p:cNvPr id="21" name="Регулярное тело">
            <a:extLst xmlns:a="http://schemas.openxmlformats.org/drawingml/2006/main">
              <a:ext uri="{FF2B5EF4-FFF2-40B4-BE49-F238E27FC236}">
                <a16:creationId xmlns:a16="http://schemas.microsoft.com/office/drawing/2014/main" id="{C021382E-C33D-4EAD-83E5-0202110B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уникальных покупателей</a:t>
            </a:r>
          </a:p>
        </p:txBody>
      </p:sp>
      <p:sp>
        <p:nvSpPr>
          <p:cNvPr id="22" name="06 / 14">
            <a:extLst xmlns:a="http://schemas.openxmlformats.org/drawingml/2006/main">
              <a:ext uri="{FF2B5EF4-FFF2-40B4-BE49-F238E27FC236}">
                <a16:creationId xmlns:a16="http://schemas.microsoft.com/office/drawing/2014/main" id="{3723838C-31A3-4F89-B2AF-A8308E12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06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1448739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Как погашается основной долг">
            <a:extLst xmlns:a="http://schemas.openxmlformats.org/drawingml/2006/main">
              <a:ext uri="{FF2B5EF4-FFF2-40B4-BE49-F238E27FC236}">
                <a16:creationId xmlns:a16="http://schemas.microsoft.com/office/drawing/2014/main" id="{C239E550-37E0-4ABC-904D-902A508A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Выручка по месяцам</a:t>
            </a:r>
          </a:p>
        </p:txBody>
      </p:sp>
      <p:sp>
        <p:nvSpPr>
          <p:cNvPr id="2" name="Остаток долга, млн RUB">
            <a:extLst xmlns:a="http://schemas.openxmlformats.org/drawingml/2006/main">
              <a:ext uri="{FF2B5EF4-FFF2-40B4-BE49-F238E27FC236}">
                <a16:creationId xmlns:a16="http://schemas.microsoft.com/office/drawing/2014/main" id="{FD848A3D-A96C-4CD2-A7AD-739EF35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Товарная выручка delivered-заказов, млн</a:t>
            </a:r>
          </a:p>
        </p:txBody>
      </p:sp>
      <p:sp>
        <p:nvSpPr>
          <p:cNvPr id="4" name="Номер платежа: 0 — дата оценки, 334 — погашение">
            <a:extLst xmlns:a="http://schemas.openxmlformats.org/drawingml/2006/main">
              <a:ext uri="{FF2B5EF4-FFF2-40B4-BE49-F238E27FC236}">
                <a16:creationId xmlns:a16="http://schemas.microsoft.com/office/drawing/2014/main" id="{D08396F1-56FB-46B7-AAC9-69C6E3E5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5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Сентябрь 2016 — август 2018</a:t>
            </a:r>
          </a:p>
        </p:txBody>
      </p:sp>
      <p:sp>
        <p:nvSpPr>
          <p:cNvPr id="5" name="В каждом графике возвращено 3 646 037,89 RUB тела. Конечный остаток: 0">
            <a:extLst xmlns:a="http://schemas.openxmlformats.org/drawingml/2006/main">
              <a:ext uri="{FF2B5EF4-FFF2-40B4-BE49-F238E27FC236}">
                <a16:creationId xmlns:a16="http://schemas.microsoft.com/office/drawing/2014/main" id="{44F25D86-A01B-466E-82C9-C2E26857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096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Ноябрь 2016: месяц без заказов сохранён</a:t>
            </a:r>
          </a:p>
        </p:txBody>
      </p:sp>
      <p:sp>
        <p:nvSpPr>
          <p:cNvPr id="6" name="07 / 14">
            <a:extLst xmlns:a="http://schemas.openxmlformats.org/drawingml/2006/main">
              <a:ext uri="{FF2B5EF4-FFF2-40B4-BE49-F238E27FC236}">
                <a16:creationId xmlns:a16="http://schemas.microsoft.com/office/drawing/2014/main" id="{4F6682F7-0DAD-4977-A90F-B8BE473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07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6A96893-764E-496E-A211-1818D5ECF512}"/>
              </a:ext>
            </a:extLst>
          </p:cNvPr>
          <p:cNvGraphicFramePr/>
          <p:nvPr/>
        </p:nvGraphicFramePr>
        <p:xfrm>
          <a:off xmlns:a="http://schemas.openxmlformats.org/drawingml/2006/main" x="666750" y="1971675"/>
          <a:ext xmlns:a="http://schemas.openxmlformats.org/drawingml/2006/main" cx="1085850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14f0aefabc4fd3"/>
          </a:graphicData>
        </a:graphic>
      </p:graphicFrame>
    </p:spTree>
    <p:extLst>
      <p:ext uri="{BB962C8B-B14F-4D97-AF65-F5344CB8AC3E}">
        <p14:creationId xmlns:p14="http://schemas.microsoft.com/office/powerpoint/2010/main" val="820396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олько процентов за весь срок">
            <a:extLst xmlns:a="http://schemas.openxmlformats.org/drawingml/2006/main">
              <a:ext uri="{FF2B5EF4-FFF2-40B4-BE49-F238E27FC236}">
                <a16:creationId xmlns:a16="http://schemas.microsoft.com/office/drawing/2014/main" id="{BDA01F0F-7AC5-4356-8A93-7DD7A9C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Крупнейшие категории</a:t>
            </a:r>
          </a:p>
        </p:txBody>
      </p:sp>
      <p:sp>
        <p:nvSpPr>
          <p:cNvPr id="2" name="Номинальная сумма процентов, млн RUB">
            <a:extLst xmlns:a="http://schemas.openxmlformats.org/drawingml/2006/main">
              <a:ext uri="{FF2B5EF4-FFF2-40B4-BE49-F238E27FC236}">
                <a16:creationId xmlns:a16="http://schemas.microsoft.com/office/drawing/2014/main" id="{DEF8E73F-F071-4761-8A8E-3A71A185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Выручка delivered-заказов, млн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3335EA-C21B-42C2-98C5-47C4392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81200"/>
            <a:ext cx="395287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5" name="Раньше">
            <a:extLst xmlns:a="http://schemas.openxmlformats.org/drawingml/2006/main">
              <a:ext uri="{FF2B5EF4-FFF2-40B4-BE49-F238E27FC236}">
                <a16:creationId xmlns:a16="http://schemas.microsoft.com/office/drawing/2014/main" id="{E50CD6C7-3F9A-4132-92B5-98CA184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90775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Красота 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здоровье</a:t>
            </a:r>
          </a:p>
        </p:txBody>
      </p:sp>
      <p:sp>
        <p:nvSpPr>
          <p:cNvPr id="6" name="Меньше начисляем">
            <a:extLst xmlns:a="http://schemas.openxmlformats.org/drawingml/2006/main">
              <a:ext uri="{FF2B5EF4-FFF2-40B4-BE49-F238E27FC236}">
                <a16:creationId xmlns:a16="http://schemas.microsoft.com/office/drawing/2014/main" id="{04C45211-AC95-411E-80C8-E476D83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1,23 млн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9,33% выручки</a:t>
            </a:r>
          </a:p>
        </p:txBody>
      </p:sp>
      <p:sp>
        <p:nvSpPr>
          <p:cNvPr id="7" name="Этот вывод относится к одной сделке с одинаковыми ставкой и сроком.">
            <a:extLst xmlns:a="http://schemas.openxmlformats.org/drawingml/2006/main">
              <a:ext uri="{FF2B5EF4-FFF2-40B4-BE49-F238E27FC236}">
                <a16:creationId xmlns:a16="http://schemas.microsoft.com/office/drawing/2014/main" id="{B6B2ABE3-6069-4220-85E2-84892AB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7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UNKNOWN: 170 726,63; товары без категории сохранены</a:t>
            </a:r>
          </a:p>
        </p:txBody>
      </p:sp>
      <p:sp>
        <p:nvSpPr>
          <p:cNvPr id="8" name="08 / 14">
            <a:extLst xmlns:a="http://schemas.openxmlformats.org/drawingml/2006/main">
              <a:ext uri="{FF2B5EF4-FFF2-40B4-BE49-F238E27FC236}">
                <a16:creationId xmlns:a16="http://schemas.microsoft.com/office/drawing/2014/main" id="{D6979099-8D9B-4C23-8004-189EEA2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08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28D22D84-8504-4BBE-9755-5DE8541E7EF9}"/>
              </a:ext>
            </a:extLst>
          </p:cNvPr>
          <p:cNvGraphicFramePr/>
          <p:nvPr/>
        </p:nvGraphicFramePr>
        <p:xfrm>
          <a:off xmlns:a="http://schemas.openxmlformats.org/drawingml/2006/main" x="695325" y="1981200"/>
          <a:ext xmlns:a="http://schemas.openxmlformats.org/drawingml/2006/main" cx="6924675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56d74a66a64035"/>
          </a:graphicData>
        </a:graphic>
      </p:graphicFrame>
    </p:spTree>
    <p:extLst>
      <p:ext uri="{BB962C8B-B14F-4D97-AF65-F5344CB8AC3E}">
        <p14:creationId xmlns:p14="http://schemas.microsoft.com/office/powerpoint/2010/main" val="1833090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Что передаём между модулями">
            <a:extLst xmlns:a="http://schemas.openxmlformats.org/drawingml/2006/main">
              <a:ext uri="{FF2B5EF4-FFF2-40B4-BE49-F238E27FC236}">
                <a16:creationId xmlns:a16="http://schemas.microsoft.com/office/drawing/2014/main" id="{21C578A2-09B4-4F85-B179-14D0F93F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Контрольные проверки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59AE05-9179-4512-B809-1E55CD2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52950"/>
            <a:ext cx="12192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4" name="Деньги и ставки: десятичные строки">
            <a:extLst xmlns:a="http://schemas.openxmlformats.org/drawingml/2006/main">
              <a:ext uri="{FF2B5EF4-FFF2-40B4-BE49-F238E27FC236}">
                <a16:creationId xmlns:a16="http://schemas.microsoft.com/office/drawing/2014/main" id="{7D4039AF-15A2-4B29-8DD1-24C5111F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6981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15 проверок контрольных значений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Скриншот реального вывода</a:t>
            </a:r>
          </a:p>
        </p:txBody>
      </p:sp>
      <p:sp>
        <p:nvSpPr>
          <p:cNvPr id="5" name="&quot;outstanding_principal&quot;: &quot;3646037.89&quot;">
            <a:extLst xmlns:a="http://schemas.openxmlformats.org/drawingml/2006/main">
              <a:ext uri="{FF2B5EF4-FFF2-40B4-BE49-F238E27FC236}">
                <a16:creationId xmlns:a16="http://schemas.microsoft.com/office/drawing/2014/main" id="{8A51B95F-874D-484D-B2DA-8E3222E6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6981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4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PostgreSQL 16.15 в Docker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4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Исходная выгрузка Olist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B5E4580-15D2-4546-9A7A-3BE130DFF1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12a1eaddb4522"/>
          <a:stretch xmlns:a="http://schemas.openxmlformats.org/drawingml/2006/main"/>
        </p:blipFill>
        <p:spPr>
          <a:xfrm xmlns:a="http://schemas.openxmlformats.org/drawingml/2006/main">
            <a:off x="8893969" y="4638675"/>
            <a:ext cx="2271713" cy="1514475"/>
          </a:xfrm>
          <a:prstGeom xmlns:a="http://schemas.openxmlformats.org/drawingml/2006/main" prst="rect">
            <a:avLst/>
          </a:prstGeom>
        </p:spPr>
      </p:pic>
      <p:sp>
        <p:nvSpPr>
          <p:cNvPr id="7" name="10 / 14">
            <a:extLst xmlns:a="http://schemas.openxmlformats.org/drawingml/2006/main">
              <a:ext uri="{FF2B5EF4-FFF2-40B4-BE49-F238E27FC236}">
                <a16:creationId xmlns:a16="http://schemas.microsoft.com/office/drawing/2014/main" id="{D2F6A8D1-74A1-4D49-B348-95045BE4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09 / 11</a:t>
            </a:r>
            <a:endParaRPr sz="1275">
              <a:solidFill>
                <a:srgbClr val="171717"/>
              </a:solidFill>
              <a:latin typeface="ALS Hauss"/>
              <a:ea typeface="ALS Hauss"/>
              <a:cs typeface="ALS Hauss"/>
            </a:endParaRP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FB921-F227-404D-979B-6C7F31DE7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0a0afc1174c29"/>
          <a:stretch xmlns:a="http://schemas.openxmlformats.org/drawingml/2006/main"/>
        </p:blipFill>
        <p:spPr>
          <a:xfrm xmlns:a="http://schemas.openxmlformats.org/drawingml/2006/main">
            <a:off x="609600" y="1689567"/>
            <a:ext cx="8477250" cy="25930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07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CD5C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ак проверили результат">
            <a:extLst xmlns:a="http://schemas.openxmlformats.org/drawingml/2006/main">
              <a:ext uri="{FF2B5EF4-FFF2-40B4-BE49-F238E27FC236}">
                <a16:creationId xmlns:a16="http://schemas.microsoft.com/office/drawing/2014/main" id="{96A0038C-2CAD-4197-BE25-951F0096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Как проверили результат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F60B8F34-8185-44AF-8184-6640FF5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095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15</a:t>
            </a:r>
          </a:p>
        </p:txBody>
      </p:sp>
      <p:sp>
        <p:nvSpPr>
          <p:cNvPr id="3" name="автотеста проходят">
            <a:extLst xmlns:a="http://schemas.openxmlformats.org/drawingml/2006/main">
              <a:ext uri="{FF2B5EF4-FFF2-40B4-BE49-F238E27FC236}">
                <a16:creationId xmlns:a16="http://schemas.microsoft.com/office/drawing/2014/main" id="{5BB1D614-98B2-4708-BB89-2673860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95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4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контрольных проверок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5253E731-DCF4-489B-8515-29FE2E7FF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7a72b8c764cbc"/>
          <a:stretch xmlns:a="http://schemas.openxmlformats.org/drawingml/2006/main"/>
        </p:blipFill>
        <p:spPr>
          <a:xfrm xmlns:a="http://schemas.openxmlformats.org/drawingml/2006/main">
            <a:off x="4105275" y="2095500"/>
            <a:ext cx="2057400" cy="1371600"/>
          </a:xfrm>
          <a:prstGeom xmlns:a="http://schemas.openxmlformats.org/drawingml/2006/main" prst="rect">
            <a:avLst/>
          </a:prstGeom>
        </p:spPr>
      </p:pic>
      <p:sp>
        <p:nvSpPr>
          <p:cNvPr id="5" name="14 737">
            <a:extLst xmlns:a="http://schemas.openxmlformats.org/drawingml/2006/main">
              <a:ext uri="{FF2B5EF4-FFF2-40B4-BE49-F238E27FC236}">
                <a16:creationId xmlns:a16="http://schemas.microsoft.com/office/drawing/2014/main" id="{4BCECCF1-6EAF-46A7-8ED3-C1EFDAEE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1911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74</a:t>
            </a:r>
          </a:p>
        </p:txBody>
      </p:sp>
      <p:sp>
        <p:nvSpPr>
          <p:cNvPr id="6" name="сравнений с исходными файлами">
            <a:extLst xmlns:a="http://schemas.openxmlformats.org/drawingml/2006/main">
              <a:ext uri="{FF2B5EF4-FFF2-40B4-BE49-F238E27FC236}">
                <a16:creationId xmlns:a16="http://schemas.microsoft.com/office/drawing/2014/main" id="{502FC7B7-46E0-4A5F-A8B3-3D294CAF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5114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категории сверены с raw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E505498-4B42-4FD9-9398-881FD361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86300"/>
            <a:ext cx="121920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8" name="0 расхождений">
            <a:extLst xmlns:a="http://schemas.openxmlformats.org/drawingml/2006/main">
              <a:ext uri="{FF2B5EF4-FFF2-40B4-BE49-F238E27FC236}">
                <a16:creationId xmlns:a16="http://schemas.microsoft.com/office/drawing/2014/main" id="{284A16EC-DF88-4004-9B38-EE9EA61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5114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 расхождений</a:t>
            </a:r>
          </a:p>
        </p:txBody>
      </p:sp>
      <p:sp>
        <p:nvSpPr>
          <p:cNvPr id="9" name="Тело погашено полностью.">
            <a:extLst xmlns:a="http://schemas.openxmlformats.org/drawingml/2006/main">
              <a:ext uri="{FF2B5EF4-FFF2-40B4-BE49-F238E27FC236}">
                <a16:creationId xmlns:a16="http://schemas.microsoft.com/office/drawing/2014/main" id="{0CE75C55-CBD7-4F5D-A22A-BE499CF1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5124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Ключи и связи сохранены.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Финансовая сверка raw и core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не выявила различий.</a:t>
            </a:r>
          </a:p>
        </p:txBody>
      </p:sp>
      <p:sp>
        <p:nvSpPr>
          <p:cNvPr id="10" name="Допуски: деньги 0,00 RUB  •  PV 10⁻⁷ RUB  •  DF и ставки периода 10⁻¹²">
            <a:extLst xmlns:a="http://schemas.openxmlformats.org/drawingml/2006/main">
              <a:ext uri="{FF2B5EF4-FFF2-40B4-BE49-F238E27FC236}">
                <a16:creationId xmlns:a16="http://schemas.microsoft.com/office/drawing/2014/main" id="{BCA4B31A-6D21-4449-ADEC-CC94A40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3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PostgreSQL 16.15 в Docker; проверки для исходной выгрузки</a:t>
            </a:r>
          </a:p>
        </p:txBody>
      </p:sp>
      <p:sp>
        <p:nvSpPr>
          <p:cNvPr id="11" name="12 / 14">
            <a:extLst xmlns:a="http://schemas.openxmlformats.org/drawingml/2006/main">
              <a:ext uri="{FF2B5EF4-FFF2-40B4-BE49-F238E27FC236}">
                <a16:creationId xmlns:a16="http://schemas.microsoft.com/office/drawing/2014/main" id="{E4B5C8D3-AAD3-45DD-A802-3E21B28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1890894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асчётная база">
            <a:extLst xmlns:a="http://schemas.openxmlformats.org/drawingml/2006/main">
              <a:ext uri="{FF2B5EF4-FFF2-40B4-BE49-F238E27FC236}">
                <a16:creationId xmlns:a16="http://schemas.microsoft.com/office/drawing/2014/main" id="{890A9BC6-F2DC-46BD-A898-AA03E704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467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Модель и ответы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готовы</a:t>
            </a: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B8316CA-F0F2-4526-BF47-3AFA10884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6963cd12a43ce"/>
          <a:stretch xmlns:a="http://schemas.openxmlformats.org/drawingml/2006/main"/>
        </p:blipFill>
        <p:spPr>
          <a:xfrm xmlns:a="http://schemas.openxmlformats.org/drawingml/2006/main">
            <a:off x="8410575" y="390525"/>
            <a:ext cx="3314700" cy="220980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F368ACA-6419-4DE8-B2DF-6330D50E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4" name="Следующий этап: факторный анализ">
            <a:extLst xmlns:a="http://schemas.openxmlformats.org/drawingml/2006/main">
              <a:ext uri="{FF2B5EF4-FFF2-40B4-BE49-F238E27FC236}">
                <a16:creationId xmlns:a16="http://schemas.microsoft.com/office/drawing/2014/main" id="{287D04C7-DA99-46E1-B8B9-E4C425DB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  <a:lvl1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1pPr>
            <a:lvl2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2pPr>
            <a:lvl3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3pPr>
            <a:lvl4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4pPr>
            <a:lvl5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5pPr>
            <a:lvl6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6pPr>
            <a:lvl7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7pPr>
            <a:lvl8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8pPr>
            <a:lvl9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Следующий этап: новые вопросы и вброс</a:t>
            </a:r>
          </a:p>
        </p:txBody>
      </p:sp>
      <p:sp>
        <p:nvSpPr>
          <p:cNvPr id="5" name="Данные за несколько периодов и портфель">
            <a:extLst xmlns:a="http://schemas.openxmlformats.org/drawingml/2006/main">
              <a:ext uri="{FF2B5EF4-FFF2-40B4-BE49-F238E27FC236}">
                <a16:creationId xmlns:a16="http://schemas.microsoft.com/office/drawing/2014/main" id="{2132B21B-0BB8-44D2-8FA1-309F021E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06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Пять новых запросов после публикации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Повторный прогон модели и проверок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Согласование бизнес-определений перед защитой</a:t>
            </a:r>
          </a:p>
        </p:txBody>
      </p:sp>
      <p:sp>
        <p:nvSpPr>
          <p:cNvPr id="6" name="Текущая версия: одна сделка, фиксированные ставки, ACT/365F">
            <a:extLst xmlns:a="http://schemas.openxmlformats.org/drawingml/2006/main">
              <a:ext uri="{FF2B5EF4-FFF2-40B4-BE49-F238E27FC236}">
                <a16:creationId xmlns:a16="http://schemas.microsoft.com/office/drawing/2014/main" id="{5FE9FA4E-890A-4351-AD87-3896CC74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5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Показаны результаты первого этапа на исходном снимке</a:t>
            </a:r>
          </a:p>
        </p:txBody>
      </p:sp>
      <p:sp>
        <p:nvSpPr>
          <p:cNvPr id="7" name="14 / 14">
            <a:extLst xmlns:a="http://schemas.openxmlformats.org/drawingml/2006/main">
              <a:ext uri="{FF2B5EF4-FFF2-40B4-BE49-F238E27FC236}">
                <a16:creationId xmlns:a16="http://schemas.microsoft.com/office/drawing/2014/main" id="{92425C12-58CD-4244-8CB8-4F41EAD4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  <a:lvl1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1pPr>
            <a:lvl2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2pPr>
            <a:lvl3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3pPr>
            <a:lvl4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4pPr>
            <a:lvl5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5pPr>
            <a:lvl6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6pPr>
            <a:lvl7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7pPr>
            <a:lvl8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8pPr>
            <a:lvl9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11 / 11</a:t>
            </a:r>
            <a:endParaRPr sz="1275">
              <a:solidFill>
                <a:srgbClr val="FFFFFF"/>
              </a:solidFill>
              <a:latin typeface="ALS Hauss"/>
              <a:ea typeface="ALS Hauss"/>
              <a:cs typeface="ALS Hauss"/>
            </a:endParaRPr>
          </a:p>
        </p:txBody>
      </p:sp>
    </p:spTree>
    <p:extLst>
      <p:ext uri="{BB962C8B-B14F-4D97-AF65-F5344CB8AC3E}">
        <p14:creationId xmlns:p14="http://schemas.microsoft.com/office/powerpoint/2010/main" val="1797498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2026-10-28T09:22:49.9200000Z</dcterms:created>
  <dcterms:modified xsi:type="dcterms:W3CDTF">2026-10-28T09:22:49.9200000Z</dcterms:modified>
</coreProperties>
</file>